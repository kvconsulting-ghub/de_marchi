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5" r:id="rId7"/>
    <p:sldId id="266" r:id="rId8"/>
    <p:sldId id="262"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hW+ySCP/VyLN+hLOG3LSSY503nc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D72"/>
    <a:srgbClr val="2ABB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6149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4169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9"/>
          <p:cNvSpPr>
            <a:spLocks noGrp="1"/>
          </p:cNvSpPr>
          <p:nvPr>
            <p:ph type="pic" idx="2"/>
          </p:nvPr>
        </p:nvSpPr>
        <p:spPr>
          <a:xfrm>
            <a:off x="5183188" y="987425"/>
            <a:ext cx="6172200" cy="4873625"/>
          </a:xfrm>
          <a:prstGeom prst="rect">
            <a:avLst/>
          </a:prstGeom>
          <a:noFill/>
          <a:ln>
            <a:noFill/>
          </a:ln>
        </p:spPr>
      </p:sp>
      <p:sp>
        <p:nvSpPr>
          <p:cNvPr id="64" name="Google Shape;64;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hyperlink" Target="http://www.demarchicontabil.com.br/" TargetMode="External"/><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instagram.com/demarchi.contabilidade/" TargetMode="External"/><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hyperlink" Target="https://www.facebook.com/demarchicontabilidade" TargetMode="External"/><Relationship Id="rId9"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1997136" y="578666"/>
            <a:ext cx="7937928" cy="1165859"/>
          </a:xfrm>
          <a:prstGeom prst="rect">
            <a:avLst/>
          </a:prstGeom>
          <a:noFill/>
          <a:ln>
            <a:noFill/>
          </a:ln>
        </p:spPr>
      </p:pic>
      <p:pic>
        <p:nvPicPr>
          <p:cNvPr id="85" name="Google Shape;85;p1"/>
          <p:cNvPicPr preferRelativeResize="0"/>
          <p:nvPr/>
        </p:nvPicPr>
        <p:blipFill rotWithShape="1">
          <a:blip r:embed="rId4">
            <a:alphaModFix/>
          </a:blip>
          <a:srcRect/>
          <a:stretch/>
        </p:blipFill>
        <p:spPr>
          <a:xfrm>
            <a:off x="10547765" y="209434"/>
            <a:ext cx="1437992" cy="967879"/>
          </a:xfrm>
          <a:prstGeom prst="rect">
            <a:avLst/>
          </a:prstGeom>
          <a:noFill/>
          <a:ln>
            <a:noFill/>
          </a:ln>
        </p:spPr>
      </p:pic>
      <p:sp>
        <p:nvSpPr>
          <p:cNvPr id="3" name="CaixaDeTexto 2">
            <a:extLst>
              <a:ext uri="{FF2B5EF4-FFF2-40B4-BE49-F238E27FC236}">
                <a16:creationId xmlns:a16="http://schemas.microsoft.com/office/drawing/2014/main" id="{52A63DDB-3C57-42F0-9E39-5C5D179FCBCE}"/>
              </a:ext>
            </a:extLst>
          </p:cNvPr>
          <p:cNvSpPr txBox="1"/>
          <p:nvPr/>
        </p:nvSpPr>
        <p:spPr>
          <a:xfrm>
            <a:off x="9832603" y="6279334"/>
            <a:ext cx="1874231" cy="307777"/>
          </a:xfrm>
          <a:prstGeom prst="rect">
            <a:avLst/>
          </a:prstGeom>
          <a:noFill/>
        </p:spPr>
        <p:txBody>
          <a:bodyPr wrap="none" rtlCol="0">
            <a:spAutoFit/>
          </a:bodyPr>
          <a:lstStyle/>
          <a:p>
            <a:r>
              <a:rPr lang="pt-BR" dirty="0">
                <a:solidFill>
                  <a:srgbClr val="444D72"/>
                </a:solidFill>
              </a:rPr>
              <a:t>04 de março de 2026</a:t>
            </a:r>
          </a:p>
        </p:txBody>
      </p:sp>
      <p:sp>
        <p:nvSpPr>
          <p:cNvPr id="2" name="CaixaDeTexto 1">
            <a:extLst>
              <a:ext uri="{FF2B5EF4-FFF2-40B4-BE49-F238E27FC236}">
                <a16:creationId xmlns:a16="http://schemas.microsoft.com/office/drawing/2014/main" id="{07C967ED-4580-4DE1-A743-03B45195035A}"/>
              </a:ext>
            </a:extLst>
          </p:cNvPr>
          <p:cNvSpPr txBox="1"/>
          <p:nvPr/>
        </p:nvSpPr>
        <p:spPr>
          <a:xfrm>
            <a:off x="4724400" y="3190473"/>
            <a:ext cx="2743200" cy="477054"/>
          </a:xfrm>
          <a:prstGeom prst="rect">
            <a:avLst/>
          </a:prstGeom>
          <a:noFill/>
        </p:spPr>
        <p:txBody>
          <a:bodyPr wrap="square" rtlCol="0">
            <a:spAutoFit/>
          </a:bodyPr>
          <a:lstStyle/>
          <a:p>
            <a:r>
              <a:rPr lang="pt-BR" sz="2500" b="1" dirty="0">
                <a:solidFill>
                  <a:srgbClr val="444D72"/>
                </a:solidFill>
              </a:rPr>
              <a:t>Nome </a:t>
            </a:r>
            <a:r>
              <a:rPr lang="pt-BR" sz="2500" b="1">
                <a:solidFill>
                  <a:srgbClr val="444D72"/>
                </a:solidFill>
              </a:rPr>
              <a:t>do cliente</a:t>
            </a:r>
            <a:endParaRPr lang="pt-BR" sz="2500" b="1" dirty="0">
              <a:solidFill>
                <a:srgbClr val="444D7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2"/>
          <p:cNvPicPr preferRelativeResize="0"/>
          <p:nvPr/>
        </p:nvPicPr>
        <p:blipFill rotWithShape="1">
          <a:blip r:embed="rId3">
            <a:alphaModFix/>
          </a:blip>
          <a:srcRect/>
          <a:stretch/>
        </p:blipFill>
        <p:spPr>
          <a:xfrm>
            <a:off x="583094" y="240214"/>
            <a:ext cx="2184408" cy="1255708"/>
          </a:xfrm>
          <a:prstGeom prst="rect">
            <a:avLst/>
          </a:prstGeom>
          <a:noFill/>
          <a:ln>
            <a:noFill/>
          </a:ln>
        </p:spPr>
      </p:pic>
      <p:sp>
        <p:nvSpPr>
          <p:cNvPr id="92" name="Google Shape;92;p2"/>
          <p:cNvSpPr txBox="1"/>
          <p:nvPr/>
        </p:nvSpPr>
        <p:spPr>
          <a:xfrm>
            <a:off x="1364974" y="2411631"/>
            <a:ext cx="4399722" cy="224676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2000" b="0" i="0" u="none" strike="noStrike" cap="none">
                <a:solidFill>
                  <a:srgbClr val="7F7F7F"/>
                </a:solidFill>
                <a:latin typeface="Calibri"/>
                <a:ea typeface="Calibri"/>
                <a:cs typeface="Calibri"/>
                <a:sym typeface="Calibri"/>
              </a:rPr>
              <a:t>Fundada em 1987, em Caxias do Sul, a De Marchi Contabilidade é uma empresa especializada no fornecimento de soluções em serviços de apoio à gestão empresarial e gestão patrimonial. Oferece soluções nas áreas contábil, fiscal e de recursos humanos.</a:t>
            </a:r>
            <a:endParaRPr/>
          </a:p>
        </p:txBody>
      </p:sp>
      <p:cxnSp>
        <p:nvCxnSpPr>
          <p:cNvPr id="93" name="Google Shape;93;p2"/>
          <p:cNvCxnSpPr/>
          <p:nvPr/>
        </p:nvCxnSpPr>
        <p:spPr>
          <a:xfrm>
            <a:off x="6096000" y="1679710"/>
            <a:ext cx="0" cy="3710608"/>
          </a:xfrm>
          <a:prstGeom prst="straightConnector1">
            <a:avLst/>
          </a:prstGeom>
          <a:noFill/>
          <a:ln w="9525" cap="flat" cmpd="sng">
            <a:solidFill>
              <a:srgbClr val="7F7F7F"/>
            </a:solidFill>
            <a:prstDash val="solid"/>
            <a:miter lim="800000"/>
            <a:headEnd type="none" w="sm" len="sm"/>
            <a:tailEnd type="none" w="sm" len="sm"/>
          </a:ln>
        </p:spPr>
      </p:cxnSp>
      <p:pic>
        <p:nvPicPr>
          <p:cNvPr id="95" name="Google Shape;95;p2"/>
          <p:cNvPicPr preferRelativeResize="0"/>
          <p:nvPr/>
        </p:nvPicPr>
        <p:blipFill rotWithShape="1">
          <a:blip r:embed="rId4">
            <a:alphaModFix/>
          </a:blip>
          <a:srcRect/>
          <a:stretch/>
        </p:blipFill>
        <p:spPr>
          <a:xfrm>
            <a:off x="10335939" y="5709823"/>
            <a:ext cx="1437992" cy="967879"/>
          </a:xfrm>
          <a:prstGeom prst="rect">
            <a:avLst/>
          </a:prstGeom>
          <a:noFill/>
          <a:ln>
            <a:noFill/>
          </a:ln>
        </p:spPr>
      </p:pic>
      <p:pic>
        <p:nvPicPr>
          <p:cNvPr id="7" name="Imagem 6">
            <a:extLst>
              <a:ext uri="{FF2B5EF4-FFF2-40B4-BE49-F238E27FC236}">
                <a16:creationId xmlns:a16="http://schemas.microsoft.com/office/drawing/2014/main" id="{E514A11A-DF28-44CC-93B7-B43C1E19F801}"/>
              </a:ext>
            </a:extLst>
          </p:cNvPr>
          <p:cNvPicPr>
            <a:picLocks noChangeAspect="1"/>
          </p:cNvPicPr>
          <p:nvPr/>
        </p:nvPicPr>
        <p:blipFill>
          <a:blip r:embed="rId5"/>
          <a:stretch>
            <a:fillRect/>
          </a:stretch>
        </p:blipFill>
        <p:spPr>
          <a:xfrm>
            <a:off x="7145229" y="1932906"/>
            <a:ext cx="3190710" cy="3204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3"/>
          <p:cNvPicPr preferRelativeResize="0"/>
          <p:nvPr/>
        </p:nvPicPr>
        <p:blipFill rotWithShape="1">
          <a:blip r:embed="rId3">
            <a:alphaModFix/>
          </a:blip>
          <a:srcRect/>
          <a:stretch/>
        </p:blipFill>
        <p:spPr>
          <a:xfrm>
            <a:off x="583094" y="240214"/>
            <a:ext cx="2184408" cy="1255708"/>
          </a:xfrm>
          <a:prstGeom prst="rect">
            <a:avLst/>
          </a:prstGeom>
          <a:noFill/>
          <a:ln>
            <a:noFill/>
          </a:ln>
        </p:spPr>
      </p:pic>
      <p:cxnSp>
        <p:nvCxnSpPr>
          <p:cNvPr id="101" name="Google Shape;101;p3"/>
          <p:cNvCxnSpPr/>
          <p:nvPr/>
        </p:nvCxnSpPr>
        <p:spPr>
          <a:xfrm>
            <a:off x="6096000" y="1679710"/>
            <a:ext cx="0" cy="3710608"/>
          </a:xfrm>
          <a:prstGeom prst="straightConnector1">
            <a:avLst/>
          </a:prstGeom>
          <a:noFill/>
          <a:ln w="9525" cap="flat" cmpd="sng">
            <a:solidFill>
              <a:srgbClr val="7F7F7F"/>
            </a:solidFill>
            <a:prstDash val="solid"/>
            <a:miter lim="800000"/>
            <a:headEnd type="none" w="sm" len="sm"/>
            <a:tailEnd type="none" w="sm" len="sm"/>
          </a:ln>
        </p:spPr>
      </p:cxnSp>
      <p:sp>
        <p:nvSpPr>
          <p:cNvPr id="102" name="Google Shape;102;p3"/>
          <p:cNvSpPr txBox="1"/>
          <p:nvPr/>
        </p:nvSpPr>
        <p:spPr>
          <a:xfrm>
            <a:off x="6453809" y="2103853"/>
            <a:ext cx="4399722" cy="2862282"/>
          </a:xfrm>
          <a:prstGeom prst="rect">
            <a:avLst/>
          </a:prstGeom>
          <a:noFill/>
          <a:ln>
            <a:noFill/>
          </a:ln>
        </p:spPr>
        <p:txBody>
          <a:bodyPr spcFirstLastPara="1" wrap="square" lIns="91425" tIns="45700" rIns="91425" bIns="45700" anchor="t" anchorCtr="0">
            <a:spAutoFit/>
          </a:bodyPr>
          <a:lstStyle/>
          <a:p>
            <a:pPr lvl="0"/>
            <a:r>
              <a:rPr lang="pt-BR" sz="2000" dirty="0">
                <a:solidFill>
                  <a:srgbClr val="7F7F7F"/>
                </a:solidFill>
                <a:latin typeface="Calibri"/>
                <a:ea typeface="Calibri"/>
                <a:cs typeface="Calibri"/>
                <a:sym typeface="Calibri"/>
              </a:rPr>
              <a:t>Com mais de 200 CNPJ ativos, atuamos nos ramos da indústria (metal mecânico, plásticos, matrizaria, têxtil, madeireiras), comércio (metais, vidros, ferramentas, veículos, alimentos, vestuário), serviços  (profissionais, clinicas, representação comercial, entre outros) e construção civil (incorporação, arquitetura e engenharia, construção).</a:t>
            </a:r>
            <a:endParaRPr lang="pt-BR" sz="2000" dirty="0"/>
          </a:p>
        </p:txBody>
      </p:sp>
      <p:pic>
        <p:nvPicPr>
          <p:cNvPr id="103" name="Google Shape;103;p3"/>
          <p:cNvPicPr preferRelativeResize="0"/>
          <p:nvPr/>
        </p:nvPicPr>
        <p:blipFill rotWithShape="1">
          <a:blip r:embed="rId4">
            <a:alphaModFix/>
          </a:blip>
          <a:srcRect/>
          <a:stretch/>
        </p:blipFill>
        <p:spPr>
          <a:xfrm>
            <a:off x="1522352" y="2135339"/>
            <a:ext cx="3880981" cy="2587321"/>
          </a:xfrm>
          <a:prstGeom prst="rect">
            <a:avLst/>
          </a:prstGeom>
          <a:noFill/>
          <a:ln>
            <a:noFill/>
          </a:ln>
        </p:spPr>
      </p:pic>
      <p:pic>
        <p:nvPicPr>
          <p:cNvPr id="104" name="Google Shape;104;p3"/>
          <p:cNvPicPr preferRelativeResize="0"/>
          <p:nvPr/>
        </p:nvPicPr>
        <p:blipFill rotWithShape="1">
          <a:blip r:embed="rId5">
            <a:alphaModFix/>
          </a:blip>
          <a:srcRect/>
          <a:stretch/>
        </p:blipFill>
        <p:spPr>
          <a:xfrm>
            <a:off x="10335939" y="5709823"/>
            <a:ext cx="1437992" cy="9678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pic>
        <p:nvPicPr>
          <p:cNvPr id="109" name="Google Shape;109;p4"/>
          <p:cNvPicPr preferRelativeResize="0"/>
          <p:nvPr/>
        </p:nvPicPr>
        <p:blipFill rotWithShape="1">
          <a:blip r:embed="rId4">
            <a:alphaModFix/>
          </a:blip>
          <a:srcRect/>
          <a:stretch/>
        </p:blipFill>
        <p:spPr>
          <a:xfrm>
            <a:off x="1913250" y="387000"/>
            <a:ext cx="8365500" cy="608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6"/>
          <p:cNvPicPr preferRelativeResize="0"/>
          <p:nvPr/>
        </p:nvPicPr>
        <p:blipFill rotWithShape="1">
          <a:blip r:embed="rId3">
            <a:alphaModFix/>
          </a:blip>
          <a:srcRect/>
          <a:stretch/>
        </p:blipFill>
        <p:spPr>
          <a:xfrm>
            <a:off x="583094" y="240214"/>
            <a:ext cx="2184408" cy="1255708"/>
          </a:xfrm>
          <a:prstGeom prst="rect">
            <a:avLst/>
          </a:prstGeom>
          <a:noFill/>
          <a:ln>
            <a:noFill/>
          </a:ln>
        </p:spPr>
      </p:pic>
      <p:pic>
        <p:nvPicPr>
          <p:cNvPr id="126" name="Google Shape;126;p6" descr="ícone Facebook, FB, Logotipo em Social Media">
            <a:hlinkClick r:id="rId4"/>
          </p:cNvPr>
          <p:cNvPicPr preferRelativeResize="0"/>
          <p:nvPr/>
        </p:nvPicPr>
        <p:blipFill rotWithShape="1">
          <a:blip r:embed="rId5">
            <a:alphaModFix/>
          </a:blip>
          <a:srcRect/>
          <a:stretch/>
        </p:blipFill>
        <p:spPr>
          <a:xfrm>
            <a:off x="2483681" y="2171908"/>
            <a:ext cx="2083675" cy="2083675"/>
          </a:xfrm>
          <a:prstGeom prst="rect">
            <a:avLst/>
          </a:prstGeom>
          <a:noFill/>
          <a:ln>
            <a:noFill/>
          </a:ln>
        </p:spPr>
      </p:pic>
      <p:pic>
        <p:nvPicPr>
          <p:cNvPr id="127" name="Google Shape;127;p6" descr="ícone Instagram, Logotipo em Social Media">
            <a:hlinkClick r:id="rId6"/>
          </p:cNvPr>
          <p:cNvPicPr preferRelativeResize="0"/>
          <p:nvPr/>
        </p:nvPicPr>
        <p:blipFill rotWithShape="1">
          <a:blip r:embed="rId7">
            <a:alphaModFix/>
          </a:blip>
          <a:srcRect/>
          <a:stretch/>
        </p:blipFill>
        <p:spPr>
          <a:xfrm>
            <a:off x="5026303" y="2171907"/>
            <a:ext cx="2083675" cy="2083675"/>
          </a:xfrm>
          <a:prstGeom prst="rect">
            <a:avLst/>
          </a:prstGeom>
          <a:noFill/>
          <a:ln>
            <a:noFill/>
          </a:ln>
        </p:spPr>
      </p:pic>
      <p:pic>
        <p:nvPicPr>
          <p:cNvPr id="128" name="Google Shape;128;p6" descr="Imagens ícone Da Internet PNG e Vetor, com Fundo Transparente Para Download  Grátis | Pngtree">
            <a:hlinkClick r:id="rId8"/>
          </p:cNvPr>
          <p:cNvPicPr preferRelativeResize="0"/>
          <p:nvPr/>
        </p:nvPicPr>
        <p:blipFill rotWithShape="1">
          <a:blip r:embed="rId9">
            <a:alphaModFix/>
          </a:blip>
          <a:srcRect/>
          <a:stretch/>
        </p:blipFill>
        <p:spPr>
          <a:xfrm>
            <a:off x="7568925" y="2399702"/>
            <a:ext cx="1628084" cy="1628084"/>
          </a:xfrm>
          <a:prstGeom prst="rect">
            <a:avLst/>
          </a:prstGeom>
          <a:noFill/>
          <a:ln>
            <a:noFill/>
          </a:ln>
        </p:spPr>
      </p:pic>
      <p:pic>
        <p:nvPicPr>
          <p:cNvPr id="129" name="Google Shape;129;p6"/>
          <p:cNvPicPr preferRelativeResize="0"/>
          <p:nvPr/>
        </p:nvPicPr>
        <p:blipFill rotWithShape="1">
          <a:blip r:embed="rId10">
            <a:alphaModFix/>
          </a:blip>
          <a:srcRect/>
          <a:stretch/>
        </p:blipFill>
        <p:spPr>
          <a:xfrm>
            <a:off x="6668813" y="5567334"/>
            <a:ext cx="5269816" cy="10576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7"/>
          <p:cNvSpPr txBox="1"/>
          <p:nvPr/>
        </p:nvSpPr>
        <p:spPr>
          <a:xfrm>
            <a:off x="941238" y="1593800"/>
            <a:ext cx="10660213" cy="5201384"/>
          </a:xfrm>
          <a:prstGeom prst="rect">
            <a:avLst/>
          </a:prstGeom>
          <a:noFill/>
          <a:ln>
            <a:noFill/>
          </a:ln>
        </p:spPr>
        <p:txBody>
          <a:bodyPr spcFirstLastPara="1" wrap="square" lIns="91425" tIns="45700" rIns="91425" bIns="45700" anchor="t" anchorCtr="0">
            <a:spAutoFit/>
          </a:bodyPr>
          <a:lstStyle/>
          <a:p>
            <a:r>
              <a:rPr lang="pt-BR" sz="1600" b="1" dirty="0">
                <a:solidFill>
                  <a:srgbClr val="2ABB9C"/>
                </a:solidFill>
                <a:latin typeface="Calibri"/>
                <a:ea typeface="Calibri"/>
                <a:cs typeface="Calibri"/>
              </a:rPr>
              <a:t> Assessoria Contábil</a:t>
            </a:r>
          </a:p>
          <a:p>
            <a:pPr lvl="0"/>
            <a:r>
              <a:rPr lang="pt-BR" sz="1600" dirty="0">
                <a:solidFill>
                  <a:srgbClr val="444D72"/>
                </a:solidFill>
                <a:latin typeface="Calibri"/>
                <a:ea typeface="Calibri"/>
                <a:cs typeface="Calibri"/>
              </a:rPr>
              <a:t>	- Classificação e escrituração contábil completa, de acordo com as normas contábeis vigentes.</a:t>
            </a:r>
          </a:p>
          <a:p>
            <a:pPr lvl="0"/>
            <a:r>
              <a:rPr lang="pt-BR" sz="1600" dirty="0">
                <a:solidFill>
                  <a:srgbClr val="444D72"/>
                </a:solidFill>
                <a:latin typeface="Calibri"/>
                <a:ea typeface="Calibri"/>
                <a:cs typeface="Calibri"/>
              </a:rPr>
              <a:t>	- Elaboração e análise mensal do balancete, DRE e acompanhamento do balanço patrimonial.</a:t>
            </a:r>
          </a:p>
          <a:p>
            <a:pPr lvl="0"/>
            <a:r>
              <a:rPr lang="pt-BR" sz="1600" dirty="0">
                <a:solidFill>
                  <a:srgbClr val="444D72"/>
                </a:solidFill>
                <a:latin typeface="Calibri"/>
                <a:ea typeface="Calibri"/>
                <a:cs typeface="Calibri"/>
              </a:rPr>
              <a:t>	- Relatórios específicos para acompanhamento mensal.</a:t>
            </a:r>
          </a:p>
          <a:p>
            <a:pPr lvl="0"/>
            <a:r>
              <a:rPr lang="pt-BR" sz="1600" dirty="0">
                <a:solidFill>
                  <a:srgbClr val="444D72"/>
                </a:solidFill>
                <a:latin typeface="Calibri"/>
                <a:ea typeface="Calibri"/>
                <a:cs typeface="Calibri"/>
              </a:rPr>
              <a:t>	- BI Contábil disponível para análise em tempo real.</a:t>
            </a:r>
          </a:p>
          <a:p>
            <a:pPr lvl="0"/>
            <a:endParaRPr lang="pt-BR" sz="1600" dirty="0">
              <a:solidFill>
                <a:srgbClr val="7F7F7F"/>
              </a:solidFill>
              <a:latin typeface="Calibri"/>
              <a:ea typeface="Calibri"/>
              <a:cs typeface="Calibri"/>
            </a:endParaRPr>
          </a:p>
          <a:p>
            <a:r>
              <a:rPr lang="pt-BR" sz="1600" b="1" dirty="0">
                <a:solidFill>
                  <a:srgbClr val="2ABB9C"/>
                </a:solidFill>
                <a:latin typeface="Calibri"/>
                <a:ea typeface="Calibri"/>
                <a:cs typeface="Calibri"/>
              </a:rPr>
              <a:t> Assessoria Fiscal e Tributária</a:t>
            </a:r>
          </a:p>
          <a:p>
            <a:pPr lvl="0"/>
            <a:r>
              <a:rPr lang="pt-BR" sz="1600" dirty="0">
                <a:solidFill>
                  <a:srgbClr val="7F7F7F"/>
                </a:solidFill>
                <a:latin typeface="Calibri"/>
                <a:ea typeface="Calibri"/>
                <a:cs typeface="Calibri"/>
              </a:rPr>
              <a:t>	</a:t>
            </a:r>
            <a:r>
              <a:rPr lang="pt-BR" sz="1600" dirty="0">
                <a:solidFill>
                  <a:srgbClr val="444D72"/>
                </a:solidFill>
                <a:latin typeface="Calibri"/>
                <a:ea typeface="Calibri"/>
                <a:cs typeface="Calibri"/>
              </a:rPr>
              <a:t>- Apuração mensal dos impostos, conforme regime tributário.</a:t>
            </a:r>
          </a:p>
          <a:p>
            <a:pPr lvl="0"/>
            <a:r>
              <a:rPr lang="pt-BR" sz="1600" dirty="0">
                <a:solidFill>
                  <a:srgbClr val="444D72"/>
                </a:solidFill>
                <a:latin typeface="Calibri"/>
                <a:ea typeface="Calibri"/>
                <a:cs typeface="Calibri"/>
              </a:rPr>
              <a:t>	- Emissão e envio das guias de tributos.</a:t>
            </a:r>
          </a:p>
          <a:p>
            <a:pPr lvl="0"/>
            <a:r>
              <a:rPr lang="pt-BR" sz="1600" dirty="0">
                <a:solidFill>
                  <a:srgbClr val="444D72"/>
                </a:solidFill>
                <a:latin typeface="Calibri"/>
                <a:ea typeface="Calibri"/>
                <a:cs typeface="Calibri"/>
              </a:rPr>
              <a:t>	- Entrega de todas as obrigações acessórias.</a:t>
            </a:r>
          </a:p>
          <a:p>
            <a:pPr lvl="0"/>
            <a:r>
              <a:rPr lang="pt-BR" sz="1600" dirty="0">
                <a:solidFill>
                  <a:srgbClr val="444D72"/>
                </a:solidFill>
                <a:latin typeface="Calibri"/>
                <a:ea typeface="Calibri"/>
                <a:cs typeface="Calibri"/>
              </a:rPr>
              <a:t>	- Monitoramento constante de alterações fiscais e orientações proativas sobre impactos.</a:t>
            </a:r>
          </a:p>
          <a:p>
            <a:pPr lvl="0"/>
            <a:endParaRPr lang="pt-BR" sz="1600" dirty="0">
              <a:solidFill>
                <a:srgbClr val="7F7F7F"/>
              </a:solidFill>
              <a:latin typeface="Calibri"/>
              <a:ea typeface="Calibri"/>
              <a:cs typeface="Calibri"/>
            </a:endParaRPr>
          </a:p>
          <a:p>
            <a:r>
              <a:rPr lang="pt-BR" sz="1600" b="1" dirty="0">
                <a:solidFill>
                  <a:srgbClr val="2ABB9C"/>
                </a:solidFill>
                <a:latin typeface="Calibri"/>
                <a:ea typeface="Calibri"/>
                <a:cs typeface="Calibri"/>
              </a:rPr>
              <a:t>Assessoria Trabalhista / Departamento Pessoal</a:t>
            </a:r>
          </a:p>
          <a:p>
            <a:pPr lvl="0"/>
            <a:r>
              <a:rPr lang="pt-BR" sz="1600" dirty="0">
                <a:solidFill>
                  <a:srgbClr val="7F7F7F"/>
                </a:solidFill>
                <a:latin typeface="Calibri"/>
                <a:ea typeface="Calibri"/>
                <a:cs typeface="Calibri"/>
              </a:rPr>
              <a:t>	</a:t>
            </a:r>
            <a:r>
              <a:rPr lang="pt-BR" sz="1600" dirty="0">
                <a:solidFill>
                  <a:srgbClr val="444D72"/>
                </a:solidFill>
                <a:latin typeface="Calibri"/>
                <a:ea typeface="Calibri"/>
                <a:cs typeface="Calibri"/>
              </a:rPr>
              <a:t>- Processamento completo da folha de pagamento, pró-labore e encargos.</a:t>
            </a:r>
          </a:p>
          <a:p>
            <a:pPr lvl="0"/>
            <a:r>
              <a:rPr lang="pt-BR" sz="1600" dirty="0">
                <a:solidFill>
                  <a:srgbClr val="444D72"/>
                </a:solidFill>
                <a:latin typeface="Calibri"/>
                <a:ea typeface="Calibri"/>
                <a:cs typeface="Calibri"/>
              </a:rPr>
              <a:t>	- Geração de guias de INSS, FGTS e impostos relacionados.</a:t>
            </a:r>
          </a:p>
          <a:p>
            <a:pPr lvl="0"/>
            <a:r>
              <a:rPr lang="pt-BR" sz="1600" dirty="0">
                <a:solidFill>
                  <a:srgbClr val="444D72"/>
                </a:solidFill>
                <a:latin typeface="Calibri"/>
                <a:ea typeface="Calibri"/>
                <a:cs typeface="Calibri"/>
              </a:rPr>
              <a:t>	- Emissão de holerites e relatórios para gestão da equipe.</a:t>
            </a:r>
          </a:p>
          <a:p>
            <a:pPr lvl="0"/>
            <a:r>
              <a:rPr lang="pt-BR" sz="1600" dirty="0">
                <a:solidFill>
                  <a:srgbClr val="444D72"/>
                </a:solidFill>
                <a:latin typeface="Calibri"/>
                <a:ea typeface="Calibri"/>
                <a:cs typeface="Calibri"/>
              </a:rPr>
              <a:t>	- Cumprimento de obrigações acessórias.</a:t>
            </a:r>
          </a:p>
          <a:p>
            <a:pPr lvl="0"/>
            <a:r>
              <a:rPr lang="pt-BR" sz="1600" dirty="0">
                <a:solidFill>
                  <a:srgbClr val="444D72"/>
                </a:solidFill>
                <a:latin typeface="Calibri"/>
                <a:ea typeface="Calibri"/>
                <a:cs typeface="Calibri"/>
              </a:rPr>
              <a:t>	- Consultoria sobre férias, rescisões, admissões e afastamentos.</a:t>
            </a:r>
          </a:p>
          <a:p>
            <a:pPr lvl="0"/>
            <a:r>
              <a:rPr lang="pt-BR" sz="1600" dirty="0">
                <a:solidFill>
                  <a:srgbClr val="444D72"/>
                </a:solidFill>
                <a:latin typeface="Calibri"/>
                <a:ea typeface="Calibri"/>
                <a:cs typeface="Calibri"/>
              </a:rPr>
              <a:t>	- Portal de Folha de pagamento para funcionários </a:t>
            </a:r>
            <a:r>
              <a:rPr lang="pt-BR" sz="1600">
                <a:solidFill>
                  <a:srgbClr val="444D72"/>
                </a:solidFill>
                <a:latin typeface="Calibri"/>
                <a:ea typeface="Calibri"/>
                <a:cs typeface="Calibri"/>
              </a:rPr>
              <a:t>da empresa.</a:t>
            </a:r>
            <a:endParaRPr lang="pt-BR" sz="1600" dirty="0">
              <a:solidFill>
                <a:srgbClr val="444D72"/>
              </a:solidFill>
              <a:latin typeface="Calibri"/>
              <a:ea typeface="Calibri"/>
              <a:cs typeface="Calibri"/>
            </a:endParaRPr>
          </a:p>
          <a:p>
            <a:pPr lvl="0"/>
            <a:endParaRPr lang="pt-BR" dirty="0"/>
          </a:p>
          <a:p>
            <a:pPr lvl="0"/>
            <a:endParaRPr lang="pt-BR" dirty="0"/>
          </a:p>
        </p:txBody>
      </p:sp>
      <p:pic>
        <p:nvPicPr>
          <p:cNvPr id="138" name="Google Shape;138;p7"/>
          <p:cNvPicPr preferRelativeResize="0"/>
          <p:nvPr/>
        </p:nvPicPr>
        <p:blipFill rotWithShape="1">
          <a:blip r:embed="rId3">
            <a:alphaModFix/>
          </a:blip>
          <a:srcRect/>
          <a:stretch/>
        </p:blipFill>
        <p:spPr>
          <a:xfrm>
            <a:off x="10335939" y="5709823"/>
            <a:ext cx="1437992" cy="967879"/>
          </a:xfrm>
          <a:prstGeom prst="rect">
            <a:avLst/>
          </a:prstGeom>
          <a:noFill/>
          <a:ln>
            <a:noFill/>
          </a:ln>
        </p:spPr>
      </p:pic>
      <p:pic>
        <p:nvPicPr>
          <p:cNvPr id="2" name="Imagem 1">
            <a:extLst>
              <a:ext uri="{FF2B5EF4-FFF2-40B4-BE49-F238E27FC236}">
                <a16:creationId xmlns:a16="http://schemas.microsoft.com/office/drawing/2014/main" id="{7DD32A9D-18A9-4A0A-BD1D-3CFC6BC481BD}"/>
              </a:ext>
            </a:extLst>
          </p:cNvPr>
          <p:cNvPicPr>
            <a:picLocks noChangeAspect="1"/>
          </p:cNvPicPr>
          <p:nvPr/>
        </p:nvPicPr>
        <p:blipFill>
          <a:blip r:embed="rId4"/>
          <a:stretch>
            <a:fillRect/>
          </a:stretch>
        </p:blipFill>
        <p:spPr>
          <a:xfrm>
            <a:off x="723594" y="623363"/>
            <a:ext cx="2505382" cy="710400"/>
          </a:xfrm>
          <a:prstGeom prst="rect">
            <a:avLst/>
          </a:prstGeom>
        </p:spPr>
      </p:pic>
    </p:spTree>
    <p:extLst>
      <p:ext uri="{BB962C8B-B14F-4D97-AF65-F5344CB8AC3E}">
        <p14:creationId xmlns:p14="http://schemas.microsoft.com/office/powerpoint/2010/main" val="28192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7"/>
          <p:cNvSpPr txBox="1"/>
          <p:nvPr/>
        </p:nvSpPr>
        <p:spPr>
          <a:xfrm>
            <a:off x="941238" y="1593800"/>
            <a:ext cx="10660213" cy="4678163"/>
          </a:xfrm>
          <a:prstGeom prst="rect">
            <a:avLst/>
          </a:prstGeom>
          <a:noFill/>
          <a:ln>
            <a:noFill/>
          </a:ln>
        </p:spPr>
        <p:txBody>
          <a:bodyPr spcFirstLastPara="1" wrap="square" lIns="91425" tIns="45700" rIns="91425" bIns="45700" anchor="t" anchorCtr="0">
            <a:spAutoFit/>
          </a:bodyPr>
          <a:lstStyle/>
          <a:p>
            <a:r>
              <a:rPr lang="pt-BR" sz="1600" b="1" dirty="0">
                <a:solidFill>
                  <a:srgbClr val="2ABB9C"/>
                </a:solidFill>
                <a:latin typeface="Calibri"/>
                <a:ea typeface="Calibri"/>
                <a:cs typeface="Calibri"/>
              </a:rPr>
              <a:t>Assessoria Jurídica Tributária (consultiva)</a:t>
            </a:r>
          </a:p>
          <a:p>
            <a:pPr lvl="0"/>
            <a:r>
              <a:rPr lang="pt-BR" sz="1600" dirty="0">
                <a:solidFill>
                  <a:srgbClr val="444D72"/>
                </a:solidFill>
                <a:latin typeface="Calibri"/>
                <a:ea typeface="Calibri"/>
                <a:cs typeface="Calibri"/>
              </a:rPr>
              <a:t>	- Orientações preventivas para redução de riscos fiscais.</a:t>
            </a:r>
          </a:p>
          <a:p>
            <a:pPr lvl="0"/>
            <a:r>
              <a:rPr lang="pt-BR" sz="1600" dirty="0">
                <a:solidFill>
                  <a:srgbClr val="444D72"/>
                </a:solidFill>
                <a:latin typeface="Calibri"/>
                <a:ea typeface="Calibri"/>
                <a:cs typeface="Calibri"/>
              </a:rPr>
              <a:t>	- Análise e pareceres sobre interpretações da legislação estadual, federal, municipal, ICMS-ST e Simples Nacional.</a:t>
            </a:r>
          </a:p>
          <a:p>
            <a:pPr lvl="0"/>
            <a:r>
              <a:rPr lang="pt-BR" sz="1600" dirty="0">
                <a:solidFill>
                  <a:srgbClr val="444D72"/>
                </a:solidFill>
                <a:latin typeface="Calibri"/>
                <a:ea typeface="Calibri"/>
                <a:cs typeface="Calibri"/>
              </a:rPr>
              <a:t>	- Apoio em eventuais notificações e intimações fiscais, com elaboração de respostas administrativas.</a:t>
            </a:r>
          </a:p>
          <a:p>
            <a:pPr lvl="0"/>
            <a:endParaRPr lang="pt-BR" sz="1600" dirty="0">
              <a:solidFill>
                <a:srgbClr val="7F7F7F"/>
              </a:solidFill>
              <a:latin typeface="Calibri"/>
              <a:ea typeface="Calibri"/>
              <a:cs typeface="Calibri"/>
            </a:endParaRPr>
          </a:p>
          <a:p>
            <a:r>
              <a:rPr lang="pt-BR" sz="1600" b="1" dirty="0">
                <a:solidFill>
                  <a:srgbClr val="2ABB9C"/>
                </a:solidFill>
                <a:latin typeface="Calibri"/>
                <a:ea typeface="Calibri"/>
                <a:cs typeface="Calibri"/>
              </a:rPr>
              <a:t>Assessoria Jurídica Trabalhista (consultiva)</a:t>
            </a:r>
          </a:p>
          <a:p>
            <a:r>
              <a:rPr lang="pt-BR" dirty="0"/>
              <a:t>	</a:t>
            </a:r>
            <a:r>
              <a:rPr lang="pt-BR" sz="1600" dirty="0">
                <a:solidFill>
                  <a:srgbClr val="444D72"/>
                </a:solidFill>
                <a:latin typeface="Calibri"/>
                <a:ea typeface="Calibri"/>
                <a:cs typeface="Calibri"/>
              </a:rPr>
              <a:t>- Orientação em rotinas empregado/patrão, evitando passivos trabalhistas.</a:t>
            </a:r>
          </a:p>
          <a:p>
            <a:r>
              <a:rPr lang="pt-BR" sz="1600" dirty="0">
                <a:solidFill>
                  <a:srgbClr val="444D72"/>
                </a:solidFill>
                <a:latin typeface="Calibri"/>
                <a:ea typeface="Calibri"/>
                <a:cs typeface="Calibri"/>
              </a:rPr>
              <a:t>	- Análise de contratos e práticas para minimizar riscos.</a:t>
            </a:r>
          </a:p>
          <a:p>
            <a:r>
              <a:rPr lang="pt-BR" sz="1600" dirty="0">
                <a:solidFill>
                  <a:srgbClr val="444D72"/>
                </a:solidFill>
                <a:latin typeface="Calibri"/>
                <a:ea typeface="Calibri"/>
                <a:cs typeface="Calibri"/>
              </a:rPr>
              <a:t>	- Suporte em fiscalizações do trabalho.</a:t>
            </a:r>
          </a:p>
          <a:p>
            <a:pPr lvl="0"/>
            <a:endParaRPr lang="pt-BR" sz="1600" dirty="0">
              <a:solidFill>
                <a:srgbClr val="7F7F7F"/>
              </a:solidFill>
              <a:latin typeface="Calibri"/>
              <a:ea typeface="Calibri"/>
              <a:cs typeface="Calibri"/>
            </a:endParaRPr>
          </a:p>
          <a:p>
            <a:r>
              <a:rPr lang="pt-BR" sz="1600" b="1" dirty="0">
                <a:solidFill>
                  <a:srgbClr val="2ABB9C"/>
                </a:solidFill>
                <a:latin typeface="Calibri"/>
                <a:ea typeface="Calibri"/>
                <a:cs typeface="Calibri"/>
              </a:rPr>
              <a:t>Suporte a Licenciamentos e Vigilância Sanitária</a:t>
            </a:r>
          </a:p>
          <a:p>
            <a:pPr lvl="0"/>
            <a:r>
              <a:rPr lang="pt-BR" dirty="0"/>
              <a:t>	</a:t>
            </a:r>
            <a:r>
              <a:rPr lang="pt-BR" sz="1600" dirty="0">
                <a:solidFill>
                  <a:srgbClr val="444D72"/>
                </a:solidFill>
                <a:latin typeface="Calibri"/>
                <a:ea typeface="Calibri"/>
                <a:cs typeface="Calibri"/>
              </a:rPr>
              <a:t>- Orientações para obtenção e renovação de alvarás municipais e licenças sanitárias.</a:t>
            </a:r>
          </a:p>
          <a:p>
            <a:pPr lvl="0"/>
            <a:r>
              <a:rPr lang="pt-BR" sz="1600" dirty="0">
                <a:solidFill>
                  <a:srgbClr val="444D72"/>
                </a:solidFill>
                <a:latin typeface="Calibri"/>
                <a:ea typeface="Calibri"/>
                <a:cs typeface="Calibri"/>
              </a:rPr>
              <a:t>	- Checklists de conformidade (boas práticas exigidas pela ANVISA e fiscalizações locais).</a:t>
            </a:r>
          </a:p>
          <a:p>
            <a:pPr lvl="0"/>
            <a:endParaRPr lang="pt-BR" dirty="0"/>
          </a:p>
          <a:p>
            <a:r>
              <a:rPr lang="pt-BR" sz="1600" b="1" dirty="0">
                <a:solidFill>
                  <a:srgbClr val="2ABB9C"/>
                </a:solidFill>
                <a:latin typeface="Calibri"/>
                <a:ea typeface="Calibri"/>
                <a:cs typeface="Calibri"/>
              </a:rPr>
              <a:t>Suporte Permanente</a:t>
            </a:r>
          </a:p>
          <a:p>
            <a:r>
              <a:rPr lang="pt-BR" sz="1600" dirty="0">
                <a:solidFill>
                  <a:srgbClr val="444D72"/>
                </a:solidFill>
                <a:latin typeface="Calibri"/>
                <a:ea typeface="Calibri"/>
                <a:cs typeface="Calibri"/>
              </a:rPr>
              <a:t>	- Canal exclusivo (WhatsApp/Portal) para dúvidas rápidas.</a:t>
            </a:r>
          </a:p>
          <a:p>
            <a:r>
              <a:rPr lang="pt-BR" sz="1600" dirty="0">
                <a:solidFill>
                  <a:srgbClr val="444D72"/>
                </a:solidFill>
                <a:latin typeface="Calibri"/>
                <a:ea typeface="Calibri"/>
                <a:cs typeface="Calibri"/>
              </a:rPr>
              <a:t>	- SLA (tempo máximo de resposta) acordado no contrato para garantir agilidade.</a:t>
            </a:r>
          </a:p>
          <a:p>
            <a:pPr lvl="0"/>
            <a:endParaRPr lang="pt-BR" dirty="0"/>
          </a:p>
          <a:p>
            <a:pPr lvl="0"/>
            <a:endParaRPr lang="pt-BR" dirty="0"/>
          </a:p>
        </p:txBody>
      </p:sp>
      <p:pic>
        <p:nvPicPr>
          <p:cNvPr id="138" name="Google Shape;138;p7"/>
          <p:cNvPicPr preferRelativeResize="0"/>
          <p:nvPr/>
        </p:nvPicPr>
        <p:blipFill rotWithShape="1">
          <a:blip r:embed="rId3">
            <a:alphaModFix/>
          </a:blip>
          <a:srcRect/>
          <a:stretch/>
        </p:blipFill>
        <p:spPr>
          <a:xfrm>
            <a:off x="10335939" y="5709823"/>
            <a:ext cx="1437992" cy="967879"/>
          </a:xfrm>
          <a:prstGeom prst="rect">
            <a:avLst/>
          </a:prstGeom>
          <a:noFill/>
          <a:ln>
            <a:noFill/>
          </a:ln>
        </p:spPr>
      </p:pic>
      <p:pic>
        <p:nvPicPr>
          <p:cNvPr id="2" name="Imagem 1">
            <a:extLst>
              <a:ext uri="{FF2B5EF4-FFF2-40B4-BE49-F238E27FC236}">
                <a16:creationId xmlns:a16="http://schemas.microsoft.com/office/drawing/2014/main" id="{7DD32A9D-18A9-4A0A-BD1D-3CFC6BC481BD}"/>
              </a:ext>
            </a:extLst>
          </p:cNvPr>
          <p:cNvPicPr>
            <a:picLocks noChangeAspect="1"/>
          </p:cNvPicPr>
          <p:nvPr/>
        </p:nvPicPr>
        <p:blipFill>
          <a:blip r:embed="rId4"/>
          <a:stretch>
            <a:fillRect/>
          </a:stretch>
        </p:blipFill>
        <p:spPr>
          <a:xfrm>
            <a:off x="723594" y="623363"/>
            <a:ext cx="2505382" cy="710400"/>
          </a:xfrm>
          <a:prstGeom prst="rect">
            <a:avLst/>
          </a:prstGeom>
        </p:spPr>
      </p:pic>
    </p:spTree>
    <p:extLst>
      <p:ext uri="{BB962C8B-B14F-4D97-AF65-F5344CB8AC3E}">
        <p14:creationId xmlns:p14="http://schemas.microsoft.com/office/powerpoint/2010/main" val="306724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7"/>
          <p:cNvPicPr preferRelativeResize="0"/>
          <p:nvPr/>
        </p:nvPicPr>
        <p:blipFill rotWithShape="1">
          <a:blip r:embed="rId3">
            <a:alphaModFix/>
          </a:blip>
          <a:srcRect/>
          <a:stretch/>
        </p:blipFill>
        <p:spPr>
          <a:xfrm>
            <a:off x="0" y="29196"/>
            <a:ext cx="7543800" cy="1647825"/>
          </a:xfrm>
          <a:prstGeom prst="rect">
            <a:avLst/>
          </a:prstGeom>
          <a:noFill/>
          <a:ln>
            <a:noFill/>
          </a:ln>
        </p:spPr>
      </p:pic>
      <p:sp>
        <p:nvSpPr>
          <p:cNvPr id="135" name="Google Shape;135;p7"/>
          <p:cNvSpPr txBox="1"/>
          <p:nvPr/>
        </p:nvSpPr>
        <p:spPr>
          <a:xfrm>
            <a:off x="641200" y="1909760"/>
            <a:ext cx="996583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dirty="0">
                <a:solidFill>
                  <a:srgbClr val="7F7F7F"/>
                </a:solidFill>
                <a:latin typeface="Calibri"/>
                <a:ea typeface="Calibri"/>
                <a:cs typeface="Calibri"/>
                <a:sym typeface="Calibri"/>
              </a:rPr>
              <a:t>O valor proposto tem por base informações dispostas pelo cliente em reunião.</a:t>
            </a:r>
            <a:endParaRPr dirty="0"/>
          </a:p>
        </p:txBody>
      </p:sp>
      <p:sp>
        <p:nvSpPr>
          <p:cNvPr id="136" name="Google Shape;136;p7"/>
          <p:cNvSpPr txBox="1"/>
          <p:nvPr/>
        </p:nvSpPr>
        <p:spPr>
          <a:xfrm>
            <a:off x="1270765" y="2593750"/>
            <a:ext cx="7090117" cy="39087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dirty="0">
                <a:solidFill>
                  <a:srgbClr val="7F7F7F"/>
                </a:solidFill>
                <a:latin typeface="Calibri"/>
                <a:ea typeface="Calibri"/>
                <a:cs typeface="Calibri"/>
                <a:sym typeface="Calibri"/>
              </a:rPr>
              <a:t>Enquadramento Tributário:  </a:t>
            </a:r>
            <a:r>
              <a:rPr lang="pt-BR" sz="2200" b="1" dirty="0">
                <a:solidFill>
                  <a:srgbClr val="343A5F"/>
                </a:solidFill>
                <a:latin typeface="Calibri"/>
                <a:ea typeface="Calibri"/>
                <a:cs typeface="Calibri"/>
                <a:sym typeface="Calibri"/>
              </a:rPr>
              <a:t>Simples Nacional</a:t>
            </a:r>
            <a:endParaRPr dirty="0"/>
          </a:p>
          <a:p>
            <a:pPr marL="0" marR="0" lvl="0" indent="0" algn="l" rtl="0">
              <a:spcBef>
                <a:spcPts val="0"/>
              </a:spcBef>
              <a:spcAft>
                <a:spcPts val="0"/>
              </a:spcAft>
              <a:buNone/>
            </a:pPr>
            <a:endParaRPr sz="2000" dirty="0">
              <a:solidFill>
                <a:srgbClr val="7F7F7F"/>
              </a:solidFill>
              <a:latin typeface="Calibri"/>
              <a:ea typeface="Calibri"/>
              <a:cs typeface="Calibri"/>
              <a:sym typeface="Calibri"/>
            </a:endParaRPr>
          </a:p>
          <a:p>
            <a:pPr marL="0" marR="0" lvl="0" indent="0" algn="l" rtl="0">
              <a:spcBef>
                <a:spcPts val="0"/>
              </a:spcBef>
              <a:spcAft>
                <a:spcPts val="0"/>
              </a:spcAft>
              <a:buNone/>
            </a:pPr>
            <a:endParaRPr sz="2000" dirty="0">
              <a:solidFill>
                <a:srgbClr val="7F7F7F"/>
              </a:solidFill>
              <a:latin typeface="Calibri"/>
              <a:ea typeface="Calibri"/>
              <a:cs typeface="Calibri"/>
              <a:sym typeface="Calibri"/>
            </a:endParaRPr>
          </a:p>
          <a:p>
            <a:pPr marL="0" marR="0" lvl="0" indent="0" algn="l" rtl="0">
              <a:spcBef>
                <a:spcPts val="0"/>
              </a:spcBef>
              <a:spcAft>
                <a:spcPts val="0"/>
              </a:spcAft>
              <a:buNone/>
            </a:pPr>
            <a:r>
              <a:rPr lang="pt-BR" sz="2000" dirty="0">
                <a:solidFill>
                  <a:srgbClr val="7F7F7F"/>
                </a:solidFill>
                <a:latin typeface="Calibri"/>
                <a:ea typeface="Calibri"/>
                <a:cs typeface="Calibri"/>
                <a:sym typeface="Calibri"/>
              </a:rPr>
              <a:t>CNPJ com Atividades de: </a:t>
            </a:r>
            <a:r>
              <a:rPr lang="pt-BR" sz="2200" b="1" dirty="0">
                <a:solidFill>
                  <a:srgbClr val="343A5F"/>
                </a:solidFill>
                <a:latin typeface="Calibri"/>
                <a:ea typeface="Calibri"/>
                <a:cs typeface="Calibri"/>
                <a:sym typeface="Calibri"/>
              </a:rPr>
              <a:t>Serviços</a:t>
            </a:r>
            <a:br>
              <a:rPr lang="pt-BR" sz="2000" dirty="0">
                <a:solidFill>
                  <a:srgbClr val="7F7F7F"/>
                </a:solidFill>
                <a:latin typeface="Calibri"/>
                <a:ea typeface="Calibri"/>
                <a:cs typeface="Calibri"/>
                <a:sym typeface="Calibri"/>
              </a:rPr>
            </a:br>
            <a:endParaRPr sz="2000" dirty="0">
              <a:solidFill>
                <a:srgbClr val="7F7F7F"/>
              </a:solidFill>
              <a:latin typeface="Calibri"/>
              <a:ea typeface="Calibri"/>
              <a:cs typeface="Calibri"/>
              <a:sym typeface="Calibri"/>
            </a:endParaRPr>
          </a:p>
          <a:p>
            <a:pPr marL="0" marR="0" lvl="0" indent="0" algn="l" rtl="0">
              <a:spcBef>
                <a:spcPts val="0"/>
              </a:spcBef>
              <a:spcAft>
                <a:spcPts val="0"/>
              </a:spcAft>
              <a:buNone/>
            </a:pPr>
            <a:br>
              <a:rPr lang="pt-BR" sz="2000" dirty="0">
                <a:solidFill>
                  <a:srgbClr val="7F7F7F"/>
                </a:solidFill>
                <a:latin typeface="Calibri"/>
                <a:ea typeface="Calibri"/>
                <a:cs typeface="Calibri"/>
                <a:sym typeface="Calibri"/>
              </a:rPr>
            </a:br>
            <a:r>
              <a:rPr lang="pt-BR" sz="2000" dirty="0">
                <a:solidFill>
                  <a:srgbClr val="7F7F7F"/>
                </a:solidFill>
                <a:latin typeface="Calibri"/>
                <a:ea typeface="Calibri"/>
                <a:cs typeface="Calibri"/>
                <a:sym typeface="Calibri"/>
              </a:rPr>
              <a:t>Registro de Funcionários: </a:t>
            </a:r>
            <a:r>
              <a:rPr lang="pt-BR" sz="2200" b="1" dirty="0">
                <a:solidFill>
                  <a:srgbClr val="343A5F"/>
                </a:solidFill>
                <a:latin typeface="Calibri"/>
                <a:ea typeface="Calibri"/>
                <a:cs typeface="Calibri"/>
                <a:sym typeface="Calibri"/>
              </a:rPr>
              <a:t>sem</a:t>
            </a:r>
            <a:r>
              <a:rPr lang="pt-BR" sz="2000" dirty="0">
                <a:solidFill>
                  <a:srgbClr val="7F7F7F"/>
                </a:solidFill>
                <a:latin typeface="Calibri"/>
                <a:ea typeface="Calibri"/>
                <a:cs typeface="Calibri"/>
                <a:sym typeface="Calibri"/>
              </a:rPr>
              <a:t> </a:t>
            </a:r>
            <a:r>
              <a:rPr lang="pt-BR" sz="2200" b="1" dirty="0">
                <a:solidFill>
                  <a:srgbClr val="343A5F"/>
                </a:solidFill>
                <a:latin typeface="Calibri"/>
                <a:ea typeface="Calibri"/>
                <a:cs typeface="Calibri"/>
                <a:sym typeface="Calibri"/>
              </a:rPr>
              <a:t>funcionários</a:t>
            </a:r>
            <a:endParaRPr dirty="0"/>
          </a:p>
          <a:p>
            <a:pPr marL="0" marR="0" lvl="0" indent="0" algn="l" rtl="0">
              <a:spcBef>
                <a:spcPts val="0"/>
              </a:spcBef>
              <a:spcAft>
                <a:spcPts val="0"/>
              </a:spcAft>
              <a:buNone/>
            </a:pPr>
            <a:endParaRPr sz="2200" b="1" dirty="0">
              <a:solidFill>
                <a:srgbClr val="343A5F"/>
              </a:solidFill>
              <a:latin typeface="Calibri"/>
              <a:ea typeface="Calibri"/>
              <a:cs typeface="Calibri"/>
              <a:sym typeface="Calibri"/>
            </a:endParaRPr>
          </a:p>
          <a:p>
            <a:pPr marL="0" marR="0" lvl="0" indent="0" algn="l" rtl="0">
              <a:spcBef>
                <a:spcPts val="0"/>
              </a:spcBef>
              <a:spcAft>
                <a:spcPts val="0"/>
              </a:spcAft>
              <a:buNone/>
            </a:pPr>
            <a:br>
              <a:rPr lang="pt-BR" sz="2000" dirty="0">
                <a:solidFill>
                  <a:srgbClr val="7F7F7F"/>
                </a:solidFill>
                <a:latin typeface="Calibri"/>
                <a:ea typeface="Calibri"/>
                <a:cs typeface="Calibri"/>
                <a:sym typeface="Calibri"/>
              </a:rPr>
            </a:br>
            <a:r>
              <a:rPr lang="pt-BR" sz="2000" dirty="0">
                <a:solidFill>
                  <a:srgbClr val="7F7F7F"/>
                </a:solidFill>
                <a:latin typeface="Calibri"/>
                <a:ea typeface="Calibri"/>
                <a:cs typeface="Calibri"/>
                <a:sym typeface="Calibri"/>
              </a:rPr>
              <a:t>Faturamento médio mensal:</a:t>
            </a:r>
            <a:r>
              <a:rPr lang="pt-BR" sz="2200" b="1" dirty="0">
                <a:solidFill>
                  <a:srgbClr val="343A5F"/>
                </a:solidFill>
                <a:latin typeface="Calibri"/>
                <a:ea typeface="Calibri"/>
                <a:cs typeface="Calibri"/>
                <a:sym typeface="Calibri"/>
              </a:rPr>
              <a:t> até R$ 60.000,00</a:t>
            </a:r>
            <a:endParaRPr dirty="0"/>
          </a:p>
          <a:p>
            <a:pPr marL="0" marR="0" lvl="0" indent="0" algn="l" rtl="0">
              <a:spcBef>
                <a:spcPts val="0"/>
              </a:spcBef>
              <a:spcAft>
                <a:spcPts val="0"/>
              </a:spcAft>
              <a:buNone/>
            </a:pPr>
            <a:endParaRPr sz="2000" dirty="0">
              <a:solidFill>
                <a:srgbClr val="7F7F7F"/>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7" name="Google Shape;137;p7"/>
          <p:cNvSpPr/>
          <p:nvPr/>
        </p:nvSpPr>
        <p:spPr>
          <a:xfrm>
            <a:off x="8742941" y="3250936"/>
            <a:ext cx="1864099" cy="11079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2200" b="1" dirty="0">
                <a:solidFill>
                  <a:srgbClr val="343A5F"/>
                </a:solidFill>
                <a:latin typeface="Calibri"/>
                <a:ea typeface="Calibri"/>
                <a:cs typeface="Calibri"/>
                <a:sym typeface="Calibri"/>
              </a:rPr>
              <a:t>Honorários </a:t>
            </a:r>
            <a:endParaRPr dirty="0"/>
          </a:p>
          <a:p>
            <a:pPr marL="0" marR="0" lvl="0" indent="0" algn="ctr" rtl="0">
              <a:spcBef>
                <a:spcPts val="0"/>
              </a:spcBef>
              <a:spcAft>
                <a:spcPts val="0"/>
              </a:spcAft>
              <a:buNone/>
            </a:pPr>
            <a:r>
              <a:rPr lang="pt-BR" sz="2200" b="1" dirty="0">
                <a:solidFill>
                  <a:srgbClr val="343A5F"/>
                </a:solidFill>
                <a:latin typeface="Calibri"/>
                <a:ea typeface="Calibri"/>
                <a:cs typeface="Calibri"/>
                <a:sym typeface="Calibri"/>
              </a:rPr>
              <a:t>Mensais </a:t>
            </a:r>
            <a:endParaRPr dirty="0"/>
          </a:p>
          <a:p>
            <a:pPr marL="0" marR="0" lvl="0" indent="0" algn="ctr" rtl="0">
              <a:spcBef>
                <a:spcPts val="0"/>
              </a:spcBef>
              <a:spcAft>
                <a:spcPts val="0"/>
              </a:spcAft>
              <a:buNone/>
            </a:pPr>
            <a:r>
              <a:rPr lang="pt-BR" sz="2200" b="1" dirty="0">
                <a:solidFill>
                  <a:srgbClr val="343A5F"/>
                </a:solidFill>
                <a:latin typeface="Calibri"/>
                <a:ea typeface="Calibri"/>
                <a:cs typeface="Calibri"/>
                <a:sym typeface="Calibri"/>
              </a:rPr>
              <a:t>R$ 500,00</a:t>
            </a:r>
            <a:endParaRPr sz="2200" dirty="0">
              <a:solidFill>
                <a:schemeClr val="dk1"/>
              </a:solidFill>
              <a:latin typeface="Cambria"/>
              <a:ea typeface="Cambria"/>
              <a:cs typeface="Cambria"/>
              <a:sym typeface="Cambria"/>
            </a:endParaRPr>
          </a:p>
        </p:txBody>
      </p:sp>
      <p:pic>
        <p:nvPicPr>
          <p:cNvPr id="138" name="Google Shape;138;p7"/>
          <p:cNvPicPr preferRelativeResize="0"/>
          <p:nvPr/>
        </p:nvPicPr>
        <p:blipFill rotWithShape="1">
          <a:blip r:embed="rId4">
            <a:alphaModFix/>
          </a:blip>
          <a:srcRect/>
          <a:stretch/>
        </p:blipFill>
        <p:spPr>
          <a:xfrm>
            <a:off x="10335939" y="5709823"/>
            <a:ext cx="1437992" cy="9678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8"/>
          <p:cNvPicPr preferRelativeResize="0"/>
          <p:nvPr/>
        </p:nvPicPr>
        <p:blipFill rotWithShape="1">
          <a:blip r:embed="rId3">
            <a:alphaModFix/>
          </a:blip>
          <a:srcRect/>
          <a:stretch/>
        </p:blipFill>
        <p:spPr>
          <a:xfrm>
            <a:off x="0" y="29196"/>
            <a:ext cx="7543800" cy="1647825"/>
          </a:xfrm>
          <a:prstGeom prst="rect">
            <a:avLst/>
          </a:prstGeom>
          <a:noFill/>
          <a:ln>
            <a:noFill/>
          </a:ln>
        </p:spPr>
      </p:pic>
      <p:sp>
        <p:nvSpPr>
          <p:cNvPr id="144" name="Google Shape;144;p8"/>
          <p:cNvSpPr txBox="1"/>
          <p:nvPr/>
        </p:nvSpPr>
        <p:spPr>
          <a:xfrm>
            <a:off x="675249" y="2220527"/>
            <a:ext cx="10621107" cy="4062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dirty="0">
                <a:solidFill>
                  <a:srgbClr val="7F7F7F"/>
                </a:solidFill>
                <a:latin typeface="Calibri"/>
                <a:ea typeface="Calibri"/>
                <a:cs typeface="Calibri"/>
                <a:sym typeface="Calibri"/>
              </a:rPr>
              <a:t>O valor proposto de honorários mensais não incluem cobranças de solicitações extras como materiais ou taxas específicas do cliente. Exemplo: Livro Registro de Funcionários, taxas de certidão simplificada da junta comercial, autenticação de documentos em cartório, taxas de registro de livros contábeis e serviços de baixas de obras junto a Prefeitura/INSS.</a:t>
            </a:r>
          </a:p>
          <a:p>
            <a:pPr marL="0" marR="0" lvl="0" indent="0" algn="l" rtl="0">
              <a:spcBef>
                <a:spcPts val="0"/>
              </a:spcBef>
              <a:spcAft>
                <a:spcPts val="0"/>
              </a:spcAft>
              <a:buNone/>
            </a:pPr>
            <a:endParaRPr lang="pt-BR" sz="2000" dirty="0">
              <a:solidFill>
                <a:srgbClr val="7F7F7F"/>
              </a:solidFill>
              <a:latin typeface="Calibri"/>
              <a:cs typeface="Calibri"/>
              <a:sym typeface="Calibri"/>
            </a:endParaRPr>
          </a:p>
          <a:p>
            <a:pPr lvl="0"/>
            <a:r>
              <a:rPr lang="pt-BR" sz="2000" dirty="0">
                <a:solidFill>
                  <a:srgbClr val="7F7F7F"/>
                </a:solidFill>
                <a:latin typeface="Calibri"/>
                <a:cs typeface="Calibri"/>
              </a:rPr>
              <a:t>Os honorários estabelecidos nesta proposta serão reajustados anualmente, contados a partir da data de início da prestação dos serviços, com base na variação acumulada do IGP-M ou por outro índice oficial que venha a substituí-lo.</a:t>
            </a:r>
          </a:p>
          <a:p>
            <a:pPr lvl="0"/>
            <a:endParaRPr sz="2000" dirty="0">
              <a:solidFill>
                <a:srgbClr val="7F7F7F"/>
              </a:solidFill>
              <a:latin typeface="Calibri"/>
              <a:cs typeface="Calibri"/>
              <a:sym typeface="Calibri"/>
            </a:endParaRPr>
          </a:p>
          <a:p>
            <a:pPr marL="0" marR="0" lvl="0" indent="0" algn="l" rtl="0">
              <a:spcBef>
                <a:spcPts val="0"/>
              </a:spcBef>
              <a:spcAft>
                <a:spcPts val="0"/>
              </a:spcAft>
              <a:buNone/>
            </a:pPr>
            <a:r>
              <a:rPr lang="pt-BR" sz="2000" dirty="0">
                <a:solidFill>
                  <a:srgbClr val="7F7F7F"/>
                </a:solidFill>
                <a:latin typeface="Calibri"/>
                <a:ea typeface="Calibri"/>
                <a:cs typeface="Calibri"/>
                <a:sym typeface="Calibri"/>
              </a:rPr>
              <a:t>No mês de dezembro é cobrado um valor adicional de honorários referente aos serviços extras do final de ano. Tais como declarações jurídicas, folhas de 13º salário, entre outros.</a:t>
            </a:r>
            <a:endParaRPr dirty="0"/>
          </a:p>
          <a:p>
            <a:pPr marL="0" marR="0" lvl="0" indent="0" algn="l" rtl="0">
              <a:spcBef>
                <a:spcPts val="0"/>
              </a:spcBef>
              <a:spcAft>
                <a:spcPts val="0"/>
              </a:spcAft>
              <a:buNone/>
            </a:pPr>
            <a:endParaRPr sz="2000" dirty="0">
              <a:solidFill>
                <a:srgbClr val="7F7F7F"/>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5" name="Google Shape;145;p8"/>
          <p:cNvPicPr preferRelativeResize="0"/>
          <p:nvPr/>
        </p:nvPicPr>
        <p:blipFill rotWithShape="1">
          <a:blip r:embed="rId4">
            <a:alphaModFix/>
          </a:blip>
          <a:srcRect/>
          <a:stretch/>
        </p:blipFill>
        <p:spPr>
          <a:xfrm>
            <a:off x="10335939" y="5709823"/>
            <a:ext cx="1437992" cy="96787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p:nvPr/>
        </p:nvSpPr>
        <p:spPr>
          <a:xfrm>
            <a:off x="3421498" y="3167390"/>
            <a:ext cx="534900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3200" b="1">
                <a:solidFill>
                  <a:srgbClr val="343A5F"/>
                </a:solidFill>
                <a:latin typeface="Calibri"/>
                <a:ea typeface="Calibri"/>
                <a:cs typeface="Calibri"/>
                <a:sym typeface="Calibri"/>
              </a:rPr>
              <a:t>Vamos Prosperar Juntos?</a:t>
            </a:r>
            <a:endParaRPr sz="3200">
              <a:solidFill>
                <a:schemeClr val="dk1"/>
              </a:solidFill>
              <a:latin typeface="Cambria"/>
              <a:ea typeface="Cambria"/>
              <a:cs typeface="Cambria"/>
              <a:sym typeface="Cambria"/>
            </a:endParaRPr>
          </a:p>
        </p:txBody>
      </p:sp>
      <p:pic>
        <p:nvPicPr>
          <p:cNvPr id="151" name="Google Shape;151;p9"/>
          <p:cNvPicPr preferRelativeResize="0"/>
          <p:nvPr/>
        </p:nvPicPr>
        <p:blipFill rotWithShape="1">
          <a:blip r:embed="rId3">
            <a:alphaModFix/>
          </a:blip>
          <a:srcRect/>
          <a:stretch/>
        </p:blipFill>
        <p:spPr>
          <a:xfrm>
            <a:off x="294517" y="5593838"/>
            <a:ext cx="5269816" cy="1057642"/>
          </a:xfrm>
          <a:prstGeom prst="rect">
            <a:avLst/>
          </a:prstGeom>
          <a:noFill/>
          <a:ln>
            <a:noFill/>
          </a:ln>
        </p:spPr>
      </p:pic>
      <p:pic>
        <p:nvPicPr>
          <p:cNvPr id="152" name="Google Shape;152;p9"/>
          <p:cNvPicPr preferRelativeResize="0"/>
          <p:nvPr/>
        </p:nvPicPr>
        <p:blipFill rotWithShape="1">
          <a:blip r:embed="rId4">
            <a:alphaModFix/>
          </a:blip>
          <a:srcRect/>
          <a:stretch/>
        </p:blipFill>
        <p:spPr>
          <a:xfrm>
            <a:off x="4936056" y="841352"/>
            <a:ext cx="2319887" cy="1561462"/>
          </a:xfrm>
          <a:prstGeom prst="rect">
            <a:avLst/>
          </a:prstGeom>
          <a:noFill/>
          <a:ln>
            <a:noFill/>
          </a:ln>
        </p:spPr>
      </p:pic>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286</Words>
  <Application>Microsoft Office PowerPoint</Application>
  <PresentationFormat>Widescreen</PresentationFormat>
  <Paragraphs>57</Paragraphs>
  <Slides>10</Slides>
  <Notes>10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vt:i4>
      </vt:variant>
    </vt:vector>
  </HeadingPairs>
  <TitlesOfParts>
    <vt:vector size="14" baseType="lpstr">
      <vt:lpstr>Arial</vt:lpstr>
      <vt:lpstr>Calibri</vt:lpstr>
      <vt:lpstr>Cambria</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felipe de marchi</dc:creator>
  <cp:lastModifiedBy>felipe de marchi</cp:lastModifiedBy>
  <cp:revision>41</cp:revision>
  <dcterms:created xsi:type="dcterms:W3CDTF">2022-11-09T13:31:57Z</dcterms:created>
  <dcterms:modified xsi:type="dcterms:W3CDTF">2026-03-04T16:49:44Z</dcterms:modified>
</cp:coreProperties>
</file>